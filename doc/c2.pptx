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7E52A-0EEA-4E15-AE5B-A7DE38F10C6B}" v="4" dt="2026-08-18T07:53:42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ith tiwari" userId="30ba5bbc9546a4cf" providerId="LiveId" clId="{E4463CAD-341F-4B77-8C11-A0F1B0553AE3}"/>
    <pc:docChg chg="undo custSel modSld">
      <pc:chgData name="Vinith tiwari" userId="30ba5bbc9546a4cf" providerId="LiveId" clId="{E4463CAD-341F-4B77-8C11-A0F1B0553AE3}" dt="2026-08-18T09:34:23.651" v="140" actId="20577"/>
      <pc:docMkLst>
        <pc:docMk/>
      </pc:docMkLst>
      <pc:sldChg chg="addSp delSp modSp mod">
        <pc:chgData name="Vinith tiwari" userId="30ba5bbc9546a4cf" providerId="LiveId" clId="{E4463CAD-341F-4B77-8C11-A0F1B0553AE3}" dt="2026-08-18T09:34:23.651" v="140" actId="20577"/>
        <pc:sldMkLst>
          <pc:docMk/>
          <pc:sldMk cId="0" sldId="256"/>
        </pc:sldMkLst>
        <pc:spChg chg="mod">
          <ac:chgData name="Vinith tiwari" userId="30ba5bbc9546a4cf" providerId="LiveId" clId="{E4463CAD-341F-4B77-8C11-A0F1B0553AE3}" dt="2026-08-18T07:54:13.984" v="126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Vinith tiwari" userId="30ba5bbc9546a4cf" providerId="LiveId" clId="{E4463CAD-341F-4B77-8C11-A0F1B0553AE3}" dt="2026-08-18T07:54:13.984" v="126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Vinith tiwari" userId="30ba5bbc9546a4cf" providerId="LiveId" clId="{E4463CAD-341F-4B77-8C11-A0F1B0553AE3}" dt="2026-08-18T07:54:13.984" v="126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Vinith tiwari" userId="30ba5bbc9546a4cf" providerId="LiveId" clId="{E4463CAD-341F-4B77-8C11-A0F1B0553AE3}" dt="2026-08-18T07:54:13.984" v="126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Vinith tiwari" userId="30ba5bbc9546a4cf" providerId="LiveId" clId="{E4463CAD-341F-4B77-8C11-A0F1B0553AE3}" dt="2026-08-18T09:34:23.651" v="140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Vinith tiwari" userId="30ba5bbc9546a4cf" providerId="LiveId" clId="{E4463CAD-341F-4B77-8C11-A0F1B0553AE3}" dt="2026-08-18T07:54:13.984" v="126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Vinith tiwari" userId="30ba5bbc9546a4cf" providerId="LiveId" clId="{E4463CAD-341F-4B77-8C11-A0F1B0553AE3}" dt="2026-08-18T07:54:13.984" v="126" actId="14100"/>
          <ac:spMkLst>
            <pc:docMk/>
            <pc:sldMk cId="0" sldId="256"/>
            <ac:spMk id="9" creationId="{00000000-0000-0000-0000-000000000000}"/>
          </ac:spMkLst>
        </pc:spChg>
        <pc:spChg chg="del">
          <ac:chgData name="Vinith tiwari" userId="30ba5bbc9546a4cf" providerId="LiveId" clId="{E4463CAD-341F-4B77-8C11-A0F1B0553AE3}" dt="2026-08-18T04:24:51.556" v="0" actId="478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Vinith tiwari" userId="30ba5bbc9546a4cf" providerId="LiveId" clId="{E4463CAD-341F-4B77-8C11-A0F1B0553AE3}" dt="2026-08-18T07:54:13.984" v="126" actId="14100"/>
          <ac:spMkLst>
            <pc:docMk/>
            <pc:sldMk cId="0" sldId="256"/>
            <ac:spMk id="11" creationId="{5F6C2286-BEF2-30C5-6CC2-C408162F711F}"/>
          </ac:spMkLst>
        </pc:spChg>
        <pc:spChg chg="add del mod">
          <ac:chgData name="Vinith tiwari" userId="30ba5bbc9546a4cf" providerId="LiveId" clId="{E4463CAD-341F-4B77-8C11-A0F1B0553AE3}" dt="2026-08-18T07:53:48.077" v="114"/>
          <ac:spMkLst>
            <pc:docMk/>
            <pc:sldMk cId="0" sldId="256"/>
            <ac:spMk id="12" creationId="{C13EE7ED-FD57-2F40-7395-11400D69C75A}"/>
          </ac:spMkLst>
        </pc:spChg>
        <pc:spChg chg="add mod">
          <ac:chgData name="Vinith tiwari" userId="30ba5bbc9546a4cf" providerId="LiveId" clId="{E4463CAD-341F-4B77-8C11-A0F1B0553AE3}" dt="2026-08-18T07:54:19.943" v="129" actId="403"/>
          <ac:spMkLst>
            <pc:docMk/>
            <pc:sldMk cId="0" sldId="256"/>
            <ac:spMk id="14" creationId="{3A60000E-FDCF-B069-7DF2-78E695643167}"/>
          </ac:spMkLst>
        </pc:spChg>
        <pc:picChg chg="mod">
          <ac:chgData name="Vinith tiwari" userId="30ba5bbc9546a4cf" providerId="LiveId" clId="{E4463CAD-341F-4B77-8C11-A0F1B0553AE3}" dt="2026-08-18T07:54:13.984" v="126" actId="14100"/>
          <ac:picMkLst>
            <pc:docMk/>
            <pc:sldMk cId="0" sldId="256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838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23A3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23A3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codon_ppt/icon_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95371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BIOLOGY  ·  BIOINFORMATICS  ·  CONSTRAINED OPTIMIZATION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Codon Optimization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Verified, Constrained-Optimization Pipeline for Synthetic Gene Design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F6C2286-BEF2-30C5-6CC2-C408162F711F}"/>
              </a:ext>
            </a:extLst>
          </p:cNvPr>
          <p:cNvSpPr/>
          <p:nvPr/>
        </p:nvSpPr>
        <p:spPr>
          <a:xfrm>
            <a:off x="8100060" y="4901565"/>
            <a:ext cx="9875520" cy="1451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Vinith – cb.ai.u4cps25055</a:t>
            </a:r>
          </a:p>
          <a:p>
            <a:r>
              <a:rPr lang="en-US" i="1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Geetika - cb.ai.u4cps25017</a:t>
            </a:r>
          </a:p>
          <a:p>
            <a:r>
              <a:rPr lang="en-US" sz="1800" i="1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Sanjai - </a:t>
            </a:r>
            <a:r>
              <a:rPr lang="en-US" i="1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cb.ai.u4cps25043</a:t>
            </a:r>
          </a:p>
          <a:p>
            <a:r>
              <a:rPr lang="en-US" sz="1800" i="1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Advait</a:t>
            </a:r>
            <a:r>
              <a:rPr lang="en-US" i="1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- cb.ai.u4cps25004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60000E-FDCF-B069-7DF2-78E695643167}"/>
              </a:ext>
            </a:extLst>
          </p:cNvPr>
          <p:cNvSpPr txBox="1"/>
          <p:nvPr/>
        </p:nvSpPr>
        <p:spPr>
          <a:xfrm>
            <a:off x="9182100" y="809863"/>
            <a:ext cx="9810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6172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</a:t>
            </a: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redesigns the synonymous codons of a gene so it expresses efficiently in a new host organism — without changing the protein it encodes. The genetic code is redundant: 64 codons cover only 20 amino acids, and organisms use those synonyms unevenly.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172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commercially: manufacturing human proteins in bacteria, expressing viral antigens for vaccines, and engineering industrial enzymes all require inserting a gene into a host it never evolved in — where unmodified genes often translate poorly.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6172200" cy="1508760"/>
          </a:xfrm>
          <a:prstGeom prst="roundRect">
            <a:avLst>
              <a:gd name="adj" fmla="val 6061"/>
            </a:avLst>
          </a:prstGeom>
          <a:solidFill>
            <a:srgbClr val="0A2E3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52628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331720" y="452628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codons  →  </a:t>
            </a:r>
            <a:r>
              <a:rPr lang="en-US" sz="11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 amino acids + stop. This redundancy (codon degeneracy) is what optimization exploits: many DNA sequences encode the identical protein.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95160" y="1234440"/>
            <a:ext cx="0" cy="4709160"/>
          </a:xfrm>
          <a:prstGeom prst="line">
            <a:avLst/>
          </a:prstGeom>
          <a:noFill/>
          <a:ln w="15875">
            <a:solidFill>
              <a:srgbClr val="DC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1234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69480" y="169164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269480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99248" y="163677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translate DNA/protein sequences into codon lists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69480" y="2404872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99248" y="23500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real, multi-organism codon usage data 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69480" y="311810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3118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99248" y="3063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codon choice per host while preserving the protein exactly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69480" y="3831336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38313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99248" y="377647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computationally that the encoded protein never changes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269480" y="454456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269480" y="4544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99248" y="448970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sequences with CAI and GC content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69480" y="525780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5257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99248" y="520293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greedy selection to constrained, multi-objective optimization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 transferred into a foreign host still produces the correct protein — but it can translate inefficiently, because the host's translation machinery is tuned to its own codon preferences. Existing optimization approaches address this only partially: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2F7F7"/>
          </a:solidFill>
          <a:ln/>
          <a:effectLst>
            <a:outerShdw blurRad="76200" dist="25400" dir="5400000" algn="bl" rotWithShape="0">
              <a:srgbClr val="9CB5B5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4231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codon_ppt/icon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718" y="251825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33756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an imperfect proxy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40233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frequency correlates with expression but is not a guarantee — the relationship's strength varies by organism and even by gene.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47288" y="214884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2F7F7"/>
          </a:solidFill>
          <a:ln/>
          <a:effectLst>
            <a:outerShdw blurRad="76200" dist="25400" dir="5400000" algn="bl" rotWithShape="0">
              <a:srgbClr val="9CB5B5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0268" y="242316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codon_ppt/ic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366" y="251825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33756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Over-optimization risk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30168" y="40233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picking the single most frequent codon can remove natural translational pauses, create repetitive sequences, and locally deplete tRNA pools.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45936" y="214884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2F7F7"/>
          </a:solidFill>
          <a:ln/>
          <a:effectLst>
            <a:outerShdw blurRad="76200" dist="25400" dir="5400000" algn="bl" rotWithShape="0">
              <a:srgbClr val="9CB5B5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28916" y="24231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codon_ppt/icon_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014" y="251825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0528" y="333756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universal objective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28816" y="40233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CAI, balancing GC%, and minimizing edits are all legitimate goals — and they genuinely conflict with no principled way to weigh them.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244584" y="214884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2F7F7"/>
          </a:solidFill>
          <a:ln/>
          <a:effectLst>
            <a:outerShdw blurRad="76200" dist="25400" dir="5400000" algn="bl" rotWithShape="0">
              <a:srgbClr val="9CB5B5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227564" y="242316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/home/claude/codon_ppt/icon_microsc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2662" y="2518258"/>
            <a:ext cx="541325" cy="5413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09176" y="333756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Computational, not experimental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427464" y="40233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published tools — including this one so far — validate improvements in silico; only wet-lab expression data fully confirms real benefit.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97864"/>
            <a:ext cx="5029200" cy="4663440"/>
          </a:xfrm>
          <a:prstGeom prst="roundRect">
            <a:avLst>
              <a:gd name="adj" fmla="val 1961"/>
            </a:avLst>
          </a:prstGeom>
          <a:solidFill>
            <a:srgbClr val="0A2E3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087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codon_ppt/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" y="159791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72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Chung &amp; Lee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3317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“Computational Codon Optimization of Synthetic Gene for Protein Expression” — BMC Systems Biology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30098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1729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Formulates codon optimization as mixed-integer nonlinear programming, then linearizes it into a MILP solved via branch-and-bound/branch-and-cut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75538" y="424281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16966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 applies a genetic algorithm (GA) approach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" y="51663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503834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single-codon usage optimization, codon-context optimization, and a combined multi-objective Pareto-front approach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0" y="12344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TO THIS PROJECT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0" y="1691640"/>
            <a:ext cx="5669280" cy="960120"/>
          </a:xfrm>
          <a:prstGeom prst="roundRect">
            <a:avLst>
              <a:gd name="adj" fmla="val 6667"/>
            </a:avLst>
          </a:prstGeom>
          <a:solidFill>
            <a:srgbClr val="F2F7F7"/>
          </a:solidFill>
          <a:ln w="12700">
            <a:solidFill>
              <a:srgbClr val="E2ED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2200" y="17830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MILP formulation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172200" y="2075688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precedent for Stage 7's constrained optimizer, solved here with scipy.optimize.milp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943600" y="2770632"/>
            <a:ext cx="56692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D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286207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 algorithm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172200" y="315468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GA is a proven route for the non-linear, context-dependent constraints planned as future work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943600" y="3849624"/>
            <a:ext cx="5669280" cy="960120"/>
          </a:xfrm>
          <a:prstGeom prst="roundRect">
            <a:avLst>
              <a:gd name="adj" fmla="val 6667"/>
            </a:avLst>
          </a:prstGeom>
          <a:solidFill>
            <a:srgbClr val="F2F7F7"/>
          </a:solidFill>
          <a:ln w="12700">
            <a:solidFill>
              <a:srgbClr val="E2ED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72200" y="394106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Multi-objective Pareto front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172200" y="423367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this project's own stance: expose CAI/GC tradeoffs rather than picking one arbitrary answer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943600" y="4928616"/>
            <a:ext cx="56692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D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72200" y="50200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Codon-context optimization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172200" y="5312664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a dimension (codon-pair bias) not yet covered by this project's frequency-only model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codon_ppt/icon_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154030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361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in the underlying codon-bias data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22860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genome-wide table can't separate translational selection, mutational bias, expression level, and environment as causes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68680" y="299923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3000" y="299923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varies within a genome (highly expressed vs. horizontally transferred genes) yet one table represents the whole genome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868680" y="371246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371246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are built from coding-sequence frequency, not directly measured tRNA abundance — the mechanistic link is inferred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868680" y="4425696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43000" y="4425696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Codon-pair (context) bias exists independently of single-codon bias and isn't captured at all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199632" y="123444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0A2E31"/>
          </a:solidFill>
          <a:ln/>
        </p:spPr>
      </p:sp>
      <p:sp>
        <p:nvSpPr>
          <p:cNvPr id="17" name="Shape 14"/>
          <p:cNvSpPr/>
          <p:nvPr/>
        </p:nvSpPr>
        <p:spPr>
          <a:xfrm>
            <a:off x="6473952" y="14630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1" descr="/home/claude/codon_ppt/icon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219" y="1540307"/>
            <a:ext cx="439826" cy="43982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05472" y="15361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in codon optimization as a method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519672" y="2286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793992" y="22860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against an imperfect proxy compounds every weakness of the underlying bias data</a:t>
            </a:r>
            <a:endParaRPr lang="en-US" sz="1080" dirty="0"/>
          </a:p>
        </p:txBody>
      </p:sp>
      <p:sp>
        <p:nvSpPr>
          <p:cNvPr id="22" name="Text 18"/>
          <p:cNvSpPr/>
          <p:nvPr/>
        </p:nvSpPr>
        <p:spPr>
          <a:xfrm>
            <a:off x="6519672" y="299923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793992" y="299923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agreed objective function — CAI, GC balance, and minimal edit distance genuinely conflict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6519672" y="371246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793992" y="371246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itself is structurally limited: codon-pair effects and repeated-codon runs aren't linear, independent-per-position quantities</a:t>
            </a:r>
            <a:endParaRPr lang="en-US" sz="1080" dirty="0"/>
          </a:p>
        </p:txBody>
      </p:sp>
      <p:sp>
        <p:nvSpPr>
          <p:cNvPr id="26" name="Text 22"/>
          <p:cNvSpPr/>
          <p:nvPr/>
        </p:nvSpPr>
        <p:spPr>
          <a:xfrm>
            <a:off x="6519672" y="4425696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793992" y="4425696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across the field remains largely computational rather than wet-lab confirmed</a:t>
            </a:r>
            <a:endParaRPr lang="en-US" sz="1080" dirty="0"/>
          </a:p>
        </p:txBody>
      </p:sp>
      <p:sp>
        <p:nvSpPr>
          <p:cNvPr id="28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86968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 · Biopython for sequence handling · scipy.optimize.milp for constrained optimization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6424" y="16459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106424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" y="211226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Engine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468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DNA, translate to protein, split into codons, compute GC%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2066544" y="21534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57984" y="150876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15768" y="164592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2715768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12848" y="211226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Codon Usage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31136" y="2468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Kazusa tables for 4 hosts spanning ~44–67% GC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675888" y="21534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67328" y="150876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5112" y="16459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325112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22192" y="211226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Optimizer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2468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single highest-frequency codon per amino acid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5285232" y="21534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76672" y="150876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34456" y="164592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934456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31536" y="211226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49824" y="2468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Re-translate and confirm an identical protein before any result is reported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6894576" y="21534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86016" y="150876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6459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7543800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211226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 Calculator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59168" y="2468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 of relative adaptiveness w across all codons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8503920" y="21534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595360" y="150876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53144" y="164592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9153144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50224" y="211226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Report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68512" y="2468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CAI, GC%, and exact substitution positions</a:t>
            </a:r>
            <a:endParaRPr lang="en-US" sz="830" dirty="0"/>
          </a:p>
        </p:txBody>
      </p:sp>
      <p:sp>
        <p:nvSpPr>
          <p:cNvPr id="40" name="Text 38"/>
          <p:cNvSpPr/>
          <p:nvPr/>
        </p:nvSpPr>
        <p:spPr>
          <a:xfrm>
            <a:off x="10113264" y="21534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204704" y="1508760"/>
            <a:ext cx="1517904" cy="1691640"/>
          </a:xfrm>
          <a:prstGeom prst="roundRect">
            <a:avLst>
              <a:gd name="adj" fmla="val 4819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62488" y="16459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/>
          <p:nvPr/>
        </p:nvSpPr>
        <p:spPr>
          <a:xfrm>
            <a:off x="10762488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259568" y="2112264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MILP Optimizer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277856" y="2468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codon preference subject to a hard GC-range constraint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548640" y="35204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A2E31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36393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CORE  —  see next slide for the full formulation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 </a:t>
            </a:r>
            <a:r>
              <a:rPr lang="en-US" sz="120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geometric mean of w(codon) = freq(codon) ÷ max freq(synonyms)     </a:t>
            </a: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 </a:t>
            </a:r>
            <a:r>
              <a:rPr lang="en-US" sz="120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maximize codon preference subject to a hard GC-range constraint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0" name="Image 0" descr="/home/claude/codon_ppt/icon_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4871923"/>
            <a:ext cx="405994" cy="405994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1234440" y="4800600"/>
            <a:ext cx="10378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</a:t>
            </a:r>
            <a:r>
              <a:rPr lang="en-US" sz="11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function — optimizer, CAI calculator, lookup utilities — takes the codon usage table as a parameter, making the pipeline genuinely host-agnostic. Data was manually cross-checked against the live Kazusa database, catching a real genetic-code-table bug during development.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Formulation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3200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odon_ppt/icon_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881" y="42108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078992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7 optimizer is posed as a formal 0/1 integer program — not a lookup table.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669280" cy="4434840"/>
          </a:xfrm>
          <a:prstGeom prst="roundRect">
            <a:avLst>
              <a:gd name="adj" fmla="val 2062"/>
            </a:avLst>
          </a:prstGeom>
          <a:solidFill>
            <a:srgbClr val="0A2E3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VARIABLE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xᵢ,c ∈ {0,1}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2679192"/>
            <a:ext cx="5120640" cy="0"/>
          </a:xfrm>
          <a:prstGeom prst="line">
            <a:avLst/>
          </a:prstGeom>
          <a:noFill/>
          <a:ln w="12700">
            <a:solidFill>
              <a:srgbClr val="2B4F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8072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CODON PER POSITION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30815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Σᴄ xᵢ,c = 1     ∀ i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3703320"/>
            <a:ext cx="5120640" cy="0"/>
          </a:xfrm>
          <a:prstGeom prst="line">
            <a:avLst/>
          </a:prstGeom>
          <a:noFill/>
          <a:ln w="12700">
            <a:solidFill>
              <a:srgbClr val="2B4F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8313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GC-CONTENT BOUND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2960" y="410565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GCmin ≤ (1/3n)·Σᵢ,c GCc·xᵢ,c ≤ GCmax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2960" y="4727448"/>
            <a:ext cx="5120640" cy="0"/>
          </a:xfrm>
          <a:prstGeom prst="line">
            <a:avLst/>
          </a:prstGeom>
          <a:noFill/>
          <a:ln w="12700">
            <a:solidFill>
              <a:srgbClr val="2B4F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85546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22960" y="51297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Σᵢ,c sᵢ,c · xᵢ,c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4652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SYMBOL MEANS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46520" y="187452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2F7F7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0" y="18745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589520" y="18745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 in the protein (one amino acid slot)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46520" y="260604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2F7F7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0" y="260604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∈ Cᵢ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589520" y="26060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synonymous codon available for the amino acid at position i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46520" y="333756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2F7F7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333756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xᵢ,c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589520" y="33375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codon c is chosen at position i, 0 otherwise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446520" y="406908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2F7F7"/>
          </a:solidFill>
          <a:ln/>
        </p:spPr>
      </p:sp>
      <p:sp>
        <p:nvSpPr>
          <p:cNvPr id="30" name="Text 27"/>
          <p:cNvSpPr/>
          <p:nvPr/>
        </p:nvSpPr>
        <p:spPr>
          <a:xfrm>
            <a:off x="6583680" y="406908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sᵢ,c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589520" y="40690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host's usage-frequency score for codon c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446520" y="480060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2F7F7"/>
          </a:solidFill>
          <a:ln/>
        </p:spPr>
      </p:sp>
      <p:sp>
        <p:nvSpPr>
          <p:cNvPr id="33" name="Text 30"/>
          <p:cNvSpPr/>
          <p:nvPr/>
        </p:nvSpPr>
        <p:spPr>
          <a:xfrm>
            <a:off x="6583680" y="480060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589520" y="48006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G/C base count contributed by codon c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446520" y="553212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2F7F7"/>
          </a:solidFill>
          <a:ln/>
        </p:spPr>
      </p:sp>
      <p:sp>
        <p:nvSpPr>
          <p:cNvPr id="36" name="Text 33"/>
          <p:cNvSpPr/>
          <p:nvPr/>
        </p:nvSpPr>
        <p:spPr>
          <a:xfrm>
            <a:off x="6583680" y="55321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589520" y="55321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codons (protein length); 3n = sequence length in bases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→ MILP → GA: Why Each Step Was Needed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2F7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single top codon per amino acid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Gives: </a:t>
            </a: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= 1.0 by construction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</a:t>
            </a:r>
            <a:r>
              <a:rPr lang="en-US" sz="10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GC target, repeats, and mRNA structure entirely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234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2F7F7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371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44568" y="1627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44568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codon preference under a hard GC constraint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44568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Gives: </a:t>
            </a: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verified, quantifiable CAI/GC tradeoff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44568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</a:t>
            </a:r>
            <a:r>
              <a:rPr lang="en-US" sz="10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only for constraints that are linear and independent per position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83296" y="12344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23A3E"/>
          </a:solidFill>
          <a:ln/>
        </p:spPr>
      </p:sp>
      <p:sp>
        <p:nvSpPr>
          <p:cNvPr id="17" name="Text 15"/>
          <p:cNvSpPr/>
          <p:nvPr/>
        </p:nvSpPr>
        <p:spPr>
          <a:xfrm>
            <a:off x="8311896" y="1371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11896" y="1627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 (planned)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11896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</a:t>
            </a:r>
            <a:r>
              <a:rPr lang="en-US" sz="100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populations of sequences under a multi-term fitness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11896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Gives: </a:t>
            </a:r>
            <a:r>
              <a:rPr lang="en-US" sz="100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context-dependent constraints MILP cannot express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11896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</a:t>
            </a:r>
            <a:r>
              <a:rPr lang="en-US" sz="1000" i="1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optimality guarantee; needs tuning of penalty weights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4023360" cy="274320"/>
          </a:xfrm>
          <a:prstGeom prst="rect">
            <a:avLst/>
          </a:prstGeom>
          <a:solidFill>
            <a:srgbClr val="0A2E3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0" y="4114800"/>
            <a:ext cx="3566160" cy="274320"/>
          </a:xfrm>
          <a:prstGeom prst="rect">
            <a:avLst/>
          </a:prstGeom>
          <a:solidFill>
            <a:srgbClr val="0A2E31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PER-POSITION?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407408"/>
            <a:ext cx="4023360" cy="347472"/>
          </a:xfrm>
          <a:prstGeom prst="rect">
            <a:avLst/>
          </a:prstGeom>
          <a:solidFill>
            <a:srgbClr val="F2F7F7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07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frequency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407408"/>
            <a:ext cx="3566160" cy="347472"/>
          </a:xfrm>
          <a:prstGeom prst="rect">
            <a:avLst/>
          </a:prstGeom>
          <a:solidFill>
            <a:srgbClr val="F2F7F7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407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per-position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754880"/>
            <a:ext cx="4023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754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GC content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4754880"/>
            <a:ext cx="3566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754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per-position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102352"/>
            <a:ext cx="4023360" cy="347472"/>
          </a:xfrm>
          <a:prstGeom prst="rect">
            <a:avLst/>
          </a:prstGeom>
          <a:solidFill>
            <a:srgbClr val="F2F7F7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102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codon runs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5102352"/>
            <a:ext cx="3566160" cy="347472"/>
          </a:xfrm>
          <a:prstGeom prst="rect">
            <a:avLst/>
          </a:prstGeom>
          <a:solidFill>
            <a:srgbClr val="F2F7F7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51023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neighbors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449824"/>
            <a:ext cx="4023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4498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 sites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5449824"/>
            <a:ext cx="3566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54498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neighbors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5797296"/>
            <a:ext cx="4023360" cy="347472"/>
          </a:xfrm>
          <a:prstGeom prst="rect">
            <a:avLst/>
          </a:prstGeom>
          <a:solidFill>
            <a:srgbClr val="F2F7F7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57972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Codon-pair bias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0" y="5797296"/>
            <a:ext cx="3566160" cy="347472"/>
          </a:xfrm>
          <a:prstGeom prst="rect">
            <a:avLst/>
          </a:prstGeom>
          <a:solidFill>
            <a:srgbClr val="F2F7F7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57972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neighbors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" y="6144768"/>
            <a:ext cx="40233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61447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secondary structure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0" y="6144768"/>
            <a:ext cx="35661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61447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neighbors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138160" y="6144768"/>
            <a:ext cx="350215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0" y="6144768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difficult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Genetic Algorithm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context-dependent constraints MILP cannot express cleanly: repeated codon runs, restriction sites, and (eventually) codon-pair bias.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691640" cy="777240"/>
          </a:xfrm>
          <a:prstGeom prst="roundRect">
            <a:avLst>
              <a:gd name="adj" fmla="val 49412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6916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population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40280" y="189280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86584" y="1691640"/>
            <a:ext cx="1691640" cy="777240"/>
          </a:xfrm>
          <a:prstGeom prst="roundRect">
            <a:avLst>
              <a:gd name="adj" fmla="val 49412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2459736" y="16916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evaluation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78224" y="189280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24528" y="1691640"/>
            <a:ext cx="1691640" cy="777240"/>
          </a:xfrm>
          <a:prstGeom prst="roundRect">
            <a:avLst>
              <a:gd name="adj" fmla="val 49412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6916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16168" y="189280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62472" y="1691640"/>
            <a:ext cx="1691640" cy="777240"/>
          </a:xfrm>
          <a:prstGeom prst="roundRect">
            <a:avLst>
              <a:gd name="adj" fmla="val 49412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135624" y="16916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54112" y="189280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0416" y="1691640"/>
            <a:ext cx="1691640" cy="777240"/>
          </a:xfrm>
          <a:prstGeom prst="roundRect">
            <a:avLst>
              <a:gd name="adj" fmla="val 49412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973568" y="16916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592056" y="1892808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738360" y="1691640"/>
            <a:ext cx="1691640" cy="777240"/>
          </a:xfrm>
          <a:prstGeom prst="roundRect">
            <a:avLst>
              <a:gd name="adj" fmla="val 49412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9811512" y="1691640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population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repeat until convergence or generation limit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0A2E3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FITNESS FUNCTION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 =  CAI  −  λ₁·P(GC)  −  λ₂·P(repeat)  −  λ₃·P(restriction)  −  λ₄·P(localGC)     [+ λ₅·P(codon-pair) planned]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2960" y="4069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λ weight is an exposed, visible parameter — not a hardcoded constant — consistent with the project's stance on making tradeoffs navigable rather than fixed.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864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P(GC)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5166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of overall GC% from the target window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47548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4864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P(repeat)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20440" y="5166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 the same or near-identical codon in a row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47548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864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P(restriction)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5166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unwanted restriction-enzyme recognition sites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052560" y="47548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89720" y="4864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P(localGC)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189720" y="5166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in GC% across sliding local windows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86968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test case — naive baseline vs. the MILP optimizer under a 55–70% GC target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2670048" cy="1051560"/>
          </a:xfrm>
          <a:prstGeom prst="roundRect">
            <a:avLst>
              <a:gd name="adj" fmla="val 7826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9903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 → 0.81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84708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traded off for GC compliance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55848" y="1353312"/>
            <a:ext cx="2670048" cy="1051560"/>
          </a:xfrm>
          <a:prstGeom prst="roundRect">
            <a:avLst>
              <a:gd name="adj" fmla="val 7826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139903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42.9% → 55–70%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93008" y="184708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content moved into the target window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63056" y="1353312"/>
            <a:ext cx="2670048" cy="1051560"/>
          </a:xfrm>
          <a:prstGeom prst="roundRect">
            <a:avLst>
              <a:gd name="adj" fmla="val 7826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254496" y="139903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0216" y="184708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failures across all test runs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70264" y="1353312"/>
            <a:ext cx="2670048" cy="1051560"/>
          </a:xfrm>
          <a:prstGeom prst="roundRect">
            <a:avLst>
              <a:gd name="adj" fmla="val 7826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9061704" y="139903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07424" y="184708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organisms tested, spanning ~44–67% GC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MATRIX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10725912" cy="329184"/>
          </a:xfrm>
          <a:prstGeom prst="rect">
            <a:avLst/>
          </a:prstGeom>
          <a:solidFill>
            <a:srgbClr val="0A2E3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260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97280" y="29260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0" y="2926080"/>
            <a:ext cx="6245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255264"/>
            <a:ext cx="10725912" cy="530352"/>
          </a:xfrm>
          <a:prstGeom prst="rect">
            <a:avLst/>
          </a:prstGeom>
          <a:solidFill>
            <a:srgbClr val="F2F7F7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5526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325526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vs. original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255264"/>
            <a:ext cx="6062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Re-translated protein identical; CAI reaches 1.0 by construction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48640" y="3785616"/>
            <a:ext cx="1072591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7856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378561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vs. MILP (55–70% GC target)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3785616"/>
            <a:ext cx="6062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1.00 → 0.81; GC 42.9% → inside target window; protein preserved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48640" y="4315968"/>
            <a:ext cx="10725912" cy="530352"/>
          </a:xfrm>
          <a:prstGeom prst="rect">
            <a:avLst/>
          </a:prstGeom>
          <a:solidFill>
            <a:srgbClr val="F2F7F7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31596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88720" y="431596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Cross-host codon preference (Arginine)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4315968"/>
            <a:ext cx="6062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codon differs by host: CGC (E. coli) vs. AGA (B. subtilis)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48640" y="4846320"/>
            <a:ext cx="1072591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D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463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88720" y="48463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A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all 4 hosts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4846320"/>
            <a:ext cx="6062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mismatches between original and re-translated protein in every run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548640" y="5513832"/>
            <a:ext cx="11109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scope:  </a:t>
            </a:r>
            <a:r>
              <a:rPr lang="en-US" sz="10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sensitivity sweep across multiple GC-target bands and a full per-organism comparison matrix are scoped as the immediate next experiments (see Timeline), building directly on this verified baseline.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Contribution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3200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codon_ppt/icon_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881" y="421081"/>
            <a:ext cx="575158" cy="5751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2344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0A2E31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234440"/>
            <a:ext cx="10469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host-agnostic, verified computational framework that progressively integrates codon usage, constrained optimization, sequence-context objectives, and multi-objective analysis — with a planned transition toward ML-based expression prediction.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deliberately narrower than “we built a codon optimizer” — the contribution is the verified, extensible framework, not any single algorithm.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5440680" cy="3520440"/>
          </a:xfrm>
          <a:prstGeom prst="roundRect">
            <a:avLst>
              <a:gd name="adj" fmla="val 2597"/>
            </a:avLst>
          </a:prstGeom>
          <a:solidFill>
            <a:srgbClr val="F2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1821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codon_ppt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324749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1821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77240" y="386791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0"/>
          <p:cNvSpPr/>
          <p:nvPr/>
        </p:nvSpPr>
        <p:spPr>
          <a:xfrm>
            <a:off x="987552" y="373075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Multi-host codon usage tables (real Kazusa data, 4 organisms)</a:t>
            </a:r>
            <a:endParaRPr lang="en-US" sz="970" dirty="0"/>
          </a:p>
        </p:txBody>
      </p:sp>
      <p:sp>
        <p:nvSpPr>
          <p:cNvPr id="15" name="Shape 11"/>
          <p:cNvSpPr/>
          <p:nvPr/>
        </p:nvSpPr>
        <p:spPr>
          <a:xfrm>
            <a:off x="777240" y="4297680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2"/>
          <p:cNvSpPr/>
          <p:nvPr/>
        </p:nvSpPr>
        <p:spPr>
          <a:xfrm>
            <a:off x="987552" y="41605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validation, translation, and codon-splitting engine</a:t>
            </a:r>
            <a:endParaRPr lang="en-US" sz="970" dirty="0"/>
          </a:p>
        </p:txBody>
      </p:sp>
      <p:sp>
        <p:nvSpPr>
          <p:cNvPr id="17" name="Shape 13"/>
          <p:cNvSpPr/>
          <p:nvPr/>
        </p:nvSpPr>
        <p:spPr>
          <a:xfrm>
            <a:off x="777240" y="4727448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4"/>
          <p:cNvSpPr/>
          <p:nvPr/>
        </p:nvSpPr>
        <p:spPr>
          <a:xfrm>
            <a:off x="987552" y="459028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Protein-preservation verification on every run</a:t>
            </a:r>
            <a:endParaRPr lang="en-US" sz="970" dirty="0"/>
          </a:p>
        </p:txBody>
      </p:sp>
      <p:sp>
        <p:nvSpPr>
          <p:cNvPr id="19" name="Shape 15"/>
          <p:cNvSpPr/>
          <p:nvPr/>
        </p:nvSpPr>
        <p:spPr>
          <a:xfrm>
            <a:off x="777240" y="5157216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6"/>
          <p:cNvSpPr/>
          <p:nvPr/>
        </p:nvSpPr>
        <p:spPr>
          <a:xfrm>
            <a:off x="987552" y="502005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scoring (geometric mean of relative adaptiveness)</a:t>
            </a:r>
            <a:endParaRPr lang="en-US" sz="970" dirty="0"/>
          </a:p>
        </p:txBody>
      </p:sp>
      <p:sp>
        <p:nvSpPr>
          <p:cNvPr id="21" name="Shape 17"/>
          <p:cNvSpPr/>
          <p:nvPr/>
        </p:nvSpPr>
        <p:spPr>
          <a:xfrm>
            <a:off x="777240" y="5586984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8"/>
          <p:cNvSpPr/>
          <p:nvPr/>
        </p:nvSpPr>
        <p:spPr>
          <a:xfrm>
            <a:off x="987552" y="544982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(greedy) optimizer</a:t>
            </a:r>
            <a:endParaRPr lang="en-US" sz="970" dirty="0"/>
          </a:p>
        </p:txBody>
      </p:sp>
      <p:sp>
        <p:nvSpPr>
          <p:cNvPr id="23" name="Shape 19"/>
          <p:cNvSpPr/>
          <p:nvPr/>
        </p:nvSpPr>
        <p:spPr>
          <a:xfrm>
            <a:off x="777240" y="6016752"/>
            <a:ext cx="82296" cy="822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0"/>
          <p:cNvSpPr/>
          <p:nvPr/>
        </p:nvSpPr>
        <p:spPr>
          <a:xfrm>
            <a:off x="987552" y="587959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optimizer with a hard GC-range constraint</a:t>
            </a:r>
            <a:endParaRPr lang="en-US" sz="970" dirty="0"/>
          </a:p>
        </p:txBody>
      </p:sp>
      <p:sp>
        <p:nvSpPr>
          <p:cNvPr id="25" name="Shape 21"/>
          <p:cNvSpPr/>
          <p:nvPr/>
        </p:nvSpPr>
        <p:spPr>
          <a:xfrm>
            <a:off x="6199632" y="3017520"/>
            <a:ext cx="5440680" cy="3520440"/>
          </a:xfrm>
          <a:prstGeom prst="roundRect">
            <a:avLst>
              <a:gd name="adj" fmla="val 2597"/>
            </a:avLst>
          </a:prstGeom>
          <a:solidFill>
            <a:srgbClr val="0A2E31"/>
          </a:solidFill>
          <a:ln/>
        </p:spPr>
      </p:sp>
      <p:sp>
        <p:nvSpPr>
          <p:cNvPr id="26" name="Shape 22"/>
          <p:cNvSpPr/>
          <p:nvPr/>
        </p:nvSpPr>
        <p:spPr>
          <a:xfrm>
            <a:off x="6428232" y="318211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2" descr="/home/claude/codon_ppt/icon_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612" y="3247492"/>
            <a:ext cx="372161" cy="37216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68312" y="318211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428232" y="386791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5"/>
          <p:cNvSpPr/>
          <p:nvPr/>
        </p:nvSpPr>
        <p:spPr>
          <a:xfrm>
            <a:off x="6638544" y="373075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for context-dependent constraints</a:t>
            </a:r>
            <a:endParaRPr lang="en-US" sz="970" dirty="0"/>
          </a:p>
        </p:txBody>
      </p:sp>
      <p:sp>
        <p:nvSpPr>
          <p:cNvPr id="31" name="Shape 26"/>
          <p:cNvSpPr/>
          <p:nvPr/>
        </p:nvSpPr>
        <p:spPr>
          <a:xfrm>
            <a:off x="6428232" y="429768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27"/>
          <p:cNvSpPr/>
          <p:nvPr/>
        </p:nvSpPr>
        <p:spPr>
          <a:xfrm>
            <a:off x="6638544" y="416052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Codon-pair (context) bias as an explicit objective</a:t>
            </a:r>
            <a:endParaRPr lang="en-US" sz="970" dirty="0"/>
          </a:p>
        </p:txBody>
      </p:sp>
      <p:sp>
        <p:nvSpPr>
          <p:cNvPr id="33" name="Shape 28"/>
          <p:cNvSpPr/>
          <p:nvPr/>
        </p:nvSpPr>
        <p:spPr>
          <a:xfrm>
            <a:off x="6428232" y="472744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29"/>
          <p:cNvSpPr/>
          <p:nvPr/>
        </p:nvSpPr>
        <p:spPr>
          <a:xfrm>
            <a:off x="6638544" y="459028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Pareto-front generation and sensitivity analysis</a:t>
            </a:r>
            <a:endParaRPr lang="en-US" sz="970" dirty="0"/>
          </a:p>
        </p:txBody>
      </p:sp>
      <p:sp>
        <p:nvSpPr>
          <p:cNvPr id="35" name="Shape 30"/>
          <p:cNvSpPr/>
          <p:nvPr/>
        </p:nvSpPr>
        <p:spPr>
          <a:xfrm>
            <a:off x="6428232" y="515721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1"/>
          <p:cNvSpPr/>
          <p:nvPr/>
        </p:nvSpPr>
        <p:spPr>
          <a:xfrm>
            <a:off x="6638544" y="502005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edit-distance optimization mode</a:t>
            </a:r>
            <a:endParaRPr lang="en-US" sz="970" dirty="0"/>
          </a:p>
        </p:txBody>
      </p:sp>
      <p:sp>
        <p:nvSpPr>
          <p:cNvPr id="37" name="Shape 32"/>
          <p:cNvSpPr/>
          <p:nvPr/>
        </p:nvSpPr>
        <p:spPr>
          <a:xfrm>
            <a:off x="6428232" y="558698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3"/>
          <p:cNvSpPr/>
          <p:nvPr/>
        </p:nvSpPr>
        <p:spPr>
          <a:xfrm>
            <a:off x="6638544" y="544982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expression prediction, then RL once a learned reward exists</a:t>
            </a:r>
            <a:endParaRPr lang="en-US" sz="970" dirty="0"/>
          </a:p>
        </p:txBody>
      </p:sp>
      <p:sp>
        <p:nvSpPr>
          <p:cNvPr id="39" name="Shape 34"/>
          <p:cNvSpPr/>
          <p:nvPr/>
        </p:nvSpPr>
        <p:spPr>
          <a:xfrm>
            <a:off x="6428232" y="601675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Text 35"/>
          <p:cNvSpPr/>
          <p:nvPr/>
        </p:nvSpPr>
        <p:spPr>
          <a:xfrm>
            <a:off x="6638544" y="587959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Real-gene and wet-lab experimental validation</a:t>
            </a:r>
            <a:endParaRPr lang="en-US" sz="970" dirty="0"/>
          </a:p>
        </p:txBody>
      </p:sp>
      <p:sp>
        <p:nvSpPr>
          <p:cNvPr id="41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future work, sequenced from nearest-term to most exploratory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531620" y="3703320"/>
            <a:ext cx="9125712" cy="0"/>
          </a:xfrm>
          <a:prstGeom prst="line">
            <a:avLst/>
          </a:prstGeom>
          <a:noFill/>
          <a:ln w="25400">
            <a:solidFill>
              <a:srgbClr val="CF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3604" y="3575304"/>
            <a:ext cx="256032" cy="256032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1620" y="3429000"/>
            <a:ext cx="0" cy="274320"/>
          </a:xfrm>
          <a:prstGeom prst="line">
            <a:avLst/>
          </a:prstGeom>
          <a:noFill/>
          <a:ln w="15875">
            <a:solidFill>
              <a:srgbClr val="CF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01168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6656" y="22494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 Algorithm optimizer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" y="2706624"/>
            <a:ext cx="170992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non-linear, context-dependent constraints — repeated codon runs, restriction sites, codon-pair bias — that don't fit MILP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85032" y="3575304"/>
            <a:ext cx="256032" cy="256032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13048" y="3831336"/>
            <a:ext cx="0" cy="274320"/>
          </a:xfrm>
          <a:prstGeom prst="line">
            <a:avLst/>
          </a:prstGeom>
          <a:noFill/>
          <a:ln w="15875">
            <a:solidFill>
              <a:srgbClr val="CF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0068" y="397764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8084" y="406908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58084" y="43068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Sliding-window GC analysis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58084" y="4764024"/>
            <a:ext cx="170992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local GC balance across windows, not just the sequence-wide average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66460" y="3575304"/>
            <a:ext cx="256032" cy="256032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4476" y="3429000"/>
            <a:ext cx="0" cy="274320"/>
          </a:xfrm>
          <a:prstGeom prst="line">
            <a:avLst/>
          </a:prstGeom>
          <a:noFill/>
          <a:ln w="15875">
            <a:solidFill>
              <a:srgbClr val="CF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11496" y="192024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9512" y="201168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39512" y="22494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Pareto frontier &amp; sensitivity analysis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39512" y="2706624"/>
            <a:ext cx="170992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and visualize how the “optimal” sequence shifts as objective weightings change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247888" y="3575304"/>
            <a:ext cx="256032" cy="256032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75904" y="3831336"/>
            <a:ext cx="0" cy="274320"/>
          </a:xfrm>
          <a:prstGeom prst="line">
            <a:avLst/>
          </a:prstGeom>
          <a:noFill/>
          <a:ln w="15875">
            <a:solidFill>
              <a:srgbClr val="CF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92924" y="397764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20940" y="406908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20940" y="43068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expression prediction (+ RL)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20940" y="4764024"/>
            <a:ext cx="170992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to predict expression from sequence features; reinforcement learning follows once that signal exists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529316" y="3575304"/>
            <a:ext cx="256032" cy="256032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57332" y="3429000"/>
            <a:ext cx="0" cy="274320"/>
          </a:xfrm>
          <a:prstGeom prst="line">
            <a:avLst/>
          </a:prstGeom>
          <a:noFill/>
          <a:ln w="15875">
            <a:solidFill>
              <a:srgbClr val="CF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74352" y="1920240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2F7F7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02368" y="2011680"/>
            <a:ext cx="1709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802368" y="22494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Real-gene &amp; experimental validation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802368" y="2706624"/>
            <a:ext cx="1709928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full-length genes and, where feasible, validate at least one optimized sequence in the wet lab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E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2F7F7"/>
          </a:solidFill>
          <a:ln w="12700">
            <a:solidFill>
              <a:srgbClr val="E2ED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733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codon_ppt/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174467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41732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Chung, B.K. &amp; Lee, D.-Y. Computational codon optimization of synthetic gene for protein expression. BMC Systems Biology.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D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codon_ppt/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2951683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624328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Kazusa Codon Usage Database — genome-wide codon usage tables for Escherichia coli K12, Bacillus subtilis, Pseudomonas aeruginosa PAO1, and Mycobacterium tuberculosis H37Rv.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831336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2F7F7"/>
          </a:solidFill>
          <a:ln w="12700">
            <a:solidFill>
              <a:srgbClr val="E2EDE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408736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codon_ppt/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4158691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831336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Cock, P.J.A. et al. Biopython: freely available Python tools for computational molecular biology and bioinformatics.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5038344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DE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529437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3" descr="/home/claude/codon_ppt/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" y="5365699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5038344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Virtanen, P. et al. SciPy 1.0: fundamental algorithms for scientific computing in Python — scipy.optimize.milp.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OPTIMIZATION PROJECT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1966</Words>
  <Application>Microsoft Office PowerPoint</Application>
  <PresentationFormat>Widescreen</PresentationFormat>
  <Paragraphs>286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Vinith tiwari</cp:lastModifiedBy>
  <cp:revision>3</cp:revision>
  <dcterms:created xsi:type="dcterms:W3CDTF">2026-08-15T16:23:01Z</dcterms:created>
  <dcterms:modified xsi:type="dcterms:W3CDTF">2026-08-18T09:34:33Z</dcterms:modified>
</cp:coreProperties>
</file>